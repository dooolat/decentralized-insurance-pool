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522" y="5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etailed_isometric_3d_digital_illustration_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"/>
            <a:ext cx="6400800" cy="466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98755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800" b="1">
                <a:solidFill>
                  <a:srgbClr val="EDF4FF"/>
                </a:solidFill>
                <a:latin typeface="Arial"/>
              </a:rPr>
              <a:t>Decentralized Insurance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417320"/>
            <a:ext cx="9601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800" b="1">
                <a:solidFill>
                  <a:srgbClr val="38D8D8"/>
                </a:solidFill>
                <a:latin typeface="Arial"/>
              </a:rPr>
              <a:t>Option E - Blockchain Technologies 2 Final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7772400" cy="2971800"/>
          </a:xfrm>
          <a:prstGeom prst="roundRect">
            <a:avLst/>
          </a:prstGeom>
          <a:solidFill>
            <a:srgbClr val="041526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7269480" cy="21488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880">
                <a:solidFill>
                  <a:srgbClr val="EDF4FF"/>
                </a:solidFill>
                <a:latin typeface="Arial"/>
              </a:defRPr>
            </a:pPr>
            <a:r>
              <a:t>• Risk pool where users stake collateral to underwrite policies.</a:t>
            </a:r>
          </a:p>
          <a:p>
            <a:pPr>
              <a:spcAft>
                <a:spcPts val="500"/>
              </a:spcAft>
              <a:defRPr sz="1880">
                <a:solidFill>
                  <a:srgbClr val="EDF4FF"/>
                </a:solidFill>
                <a:latin typeface="Arial"/>
              </a:defRPr>
            </a:pPr>
            <a:r>
              <a:t>• Chainlink oracle triggers claims based on external market conditions.</a:t>
            </a:r>
          </a:p>
          <a:p>
            <a:pPr>
              <a:spcAft>
                <a:spcPts val="500"/>
              </a:spcAft>
              <a:defRPr sz="1880">
                <a:solidFill>
                  <a:srgbClr val="EDF4FF"/>
                </a:solidFill>
                <a:latin typeface="Arial"/>
              </a:defRPr>
            </a:pPr>
            <a:r>
              <a:t>• ERC-4626 vault manages underwriter liquidity and payout capacity.</a:t>
            </a:r>
          </a:p>
          <a:p>
            <a:pPr>
              <a:spcAft>
                <a:spcPts val="500"/>
              </a:spcAft>
              <a:defRPr sz="1880">
                <a:solidFill>
                  <a:srgbClr val="EDF4FF"/>
                </a:solidFill>
                <a:latin typeface="Arial"/>
              </a:defRPr>
            </a:pPr>
            <a:r>
              <a:t>• DAO governance controls risk types, premiums, and protocol 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11521440" cy="330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en-US" sz="1550" b="0" dirty="0">
                <a:solidFill>
                  <a:srgbClr val="EDF4FF"/>
                </a:solidFill>
                <a:latin typeface="Arial"/>
              </a:rPr>
              <a:t>Group members</a:t>
            </a:r>
            <a:r>
              <a:rPr lang="ru-KZ" sz="1550" b="0" dirty="0">
                <a:solidFill>
                  <a:srgbClr val="EDF4FF"/>
                </a:solidFill>
                <a:latin typeface="Arial"/>
              </a:rPr>
              <a:t>: </a:t>
            </a:r>
            <a:r>
              <a:rPr sz="1550" b="0" dirty="0">
                <a:solidFill>
                  <a:srgbClr val="EDF4FF"/>
                </a:solidFill>
                <a:latin typeface="Arial"/>
              </a:rPr>
              <a:t>Zhambyl - contracts/integration/deployment | Murat - frontend/subgraph | </a:t>
            </a:r>
            <a:r>
              <a:rPr sz="1550" b="0" dirty="0" err="1">
                <a:solidFill>
                  <a:srgbClr val="EDF4FF"/>
                </a:solidFill>
                <a:latin typeface="Arial"/>
              </a:rPr>
              <a:t>Daulet</a:t>
            </a:r>
            <a:r>
              <a:rPr sz="1550" b="0" dirty="0">
                <a:solidFill>
                  <a:srgbClr val="EDF4FF"/>
                </a:solidFill>
                <a:latin typeface="Arial"/>
              </a:rPr>
              <a:t> - tests/reports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106680" y="6903720"/>
            <a:ext cx="1484376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1. Problem and Product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What the protocol solves and how users interact with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217920" cy="493776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286000" cy="430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200" b="1" dirty="0">
                <a:solidFill>
                  <a:srgbClr val="38D8D8"/>
                </a:solidFill>
                <a:latin typeface="Arial"/>
              </a:rPr>
              <a:t>  </a:t>
            </a:r>
            <a:r>
              <a:rPr sz="2200" b="1" dirty="0">
                <a:solidFill>
                  <a:srgbClr val="38D8D8"/>
                </a:solidFill>
                <a:latin typeface="Arial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715000" cy="25603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Traditional insurance is slow, centralized, and often opaque.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Users cannot easily verify how premiums, reserves, and payouts are calculated.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Crypto risks like depeg events need fast and transparent claim logic.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Manual claim review does not fit well with automated DeFi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200" b="1">
                <a:solidFill>
                  <a:srgbClr val="F5BC4C"/>
                </a:solidFill>
                <a:latin typeface="Arial"/>
              </a:rPr>
              <a:t>Our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00200"/>
            <a:ext cx="6309360" cy="4937760"/>
          </a:xfrm>
          <a:prstGeom prst="roundRect">
            <a:avLst/>
          </a:prstGeom>
          <a:solidFill>
            <a:srgbClr val="122032"/>
          </a:solidFill>
          <a:ln w="12700">
            <a:solidFill>
              <a:srgbClr val="F5B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2331720"/>
            <a:ext cx="5715000" cy="25603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Underwriters deposit collateral into a vault and earn protocol yield.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Policy buyers pay a premium for coverage against a specific risk type.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The Chainlink oracle checks the trigger condition, such as a price depeg.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If the condition is met, the ClaimManager executes the payout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06680" y="6903720"/>
            <a:ext cx="1484376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high_detail_futuristic_isometric_3d_digital_il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17320"/>
            <a:ext cx="6492240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2.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The protocol is split into contracts, frontend, subgraph, and deployment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6355080" cy="516636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EDF4FF"/>
                </a:solidFill>
                <a:latin typeface="Arial"/>
              </a:defRPr>
            </a:pPr>
            <a:r>
              <a:t>1. Users interact through the React frontend: connect wallet, read state, and submit actions.</a:t>
            </a:r>
          </a:p>
          <a:p>
            <a:pPr>
              <a:spcAft>
                <a:spcPts val="600"/>
              </a:spcAft>
              <a:defRPr sz="1680">
                <a:solidFill>
                  <a:srgbClr val="EDF4FF"/>
                </a:solidFill>
                <a:latin typeface="Arial"/>
              </a:defRPr>
            </a:pPr>
            <a:r>
              <a:t>2. Core contracts handle vault deposits, policy purchases, risk registry, AMM swaps, and claim execution.</a:t>
            </a:r>
          </a:p>
          <a:p>
            <a:pPr>
              <a:spcAft>
                <a:spcPts val="600"/>
              </a:spcAft>
              <a:defRPr sz="1680">
                <a:solidFill>
                  <a:srgbClr val="EDF4FF"/>
                </a:solidFill>
                <a:latin typeface="Arial"/>
              </a:defRPr>
            </a:pPr>
            <a:r>
              <a:t>3. ChainlinkOracleAdapter reads price data and rejects stale or invalid oracle answers.</a:t>
            </a:r>
          </a:p>
          <a:p>
            <a:pPr>
              <a:spcAft>
                <a:spcPts val="600"/>
              </a:spcAft>
              <a:defRPr sz="1680">
                <a:solidFill>
                  <a:srgbClr val="EDF4FF"/>
                </a:solidFill>
                <a:latin typeface="Arial"/>
              </a:defRPr>
            </a:pPr>
            <a:r>
              <a:t>4. ProtocolGovernor and ProtocolTimelock provide DAO control over key parameters.</a:t>
            </a:r>
          </a:p>
          <a:p>
            <a:pPr>
              <a:spcAft>
                <a:spcPts val="600"/>
              </a:spcAft>
              <a:defRPr sz="1680">
                <a:solidFill>
                  <a:srgbClr val="EDF4FF"/>
                </a:solidFill>
                <a:latin typeface="Arial"/>
              </a:defRPr>
            </a:pPr>
            <a:r>
              <a:t>5. The Graph subgraph indexes protocol events for UI and analytics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6309360"/>
            <a:ext cx="1371600" cy="365760"/>
          </a:xfrm>
          <a:prstGeom prst="roundRect">
            <a:avLst/>
          </a:prstGeom>
          <a:solidFill>
            <a:srgbClr val="062736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635508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200" b="1">
                <a:solidFill>
                  <a:srgbClr val="EDF4FF"/>
                </a:solidFill>
                <a:latin typeface="Arial"/>
              </a:rP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6309360"/>
            <a:ext cx="1463040" cy="365760"/>
          </a:xfrm>
          <a:prstGeom prst="roundRect">
            <a:avLst/>
          </a:prstGeom>
          <a:solidFill>
            <a:srgbClr val="062736"/>
          </a:solidFill>
          <a:ln w="12700">
            <a:solidFill>
              <a:srgbClr val="5B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6355080"/>
            <a:ext cx="13716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200" b="1">
                <a:solidFill>
                  <a:srgbClr val="EDF4FF"/>
                </a:solidFill>
                <a:latin typeface="Arial"/>
              </a:rPr>
              <a:t>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27080" y="6309360"/>
            <a:ext cx="1188720" cy="365760"/>
          </a:xfrm>
          <a:prstGeom prst="roundRect">
            <a:avLst/>
          </a:prstGeom>
          <a:solidFill>
            <a:srgbClr val="0627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0" y="6355080"/>
            <a:ext cx="10972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200" b="1">
                <a:solidFill>
                  <a:srgbClr val="EDF4FF"/>
                </a:solidFill>
                <a:latin typeface="Arial"/>
              </a:rPr>
              <a:t>Oracle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298680" y="6309360"/>
            <a:ext cx="1371600" cy="365760"/>
          </a:xfrm>
          <a:prstGeom prst="roundRect">
            <a:avLst/>
          </a:prstGeom>
          <a:solidFill>
            <a:srgbClr val="062736"/>
          </a:solidFill>
          <a:ln w="12700">
            <a:solidFill>
              <a:srgbClr val="37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0" y="635508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200" b="1">
                <a:solidFill>
                  <a:srgbClr val="EDF4FF"/>
                </a:solidFill>
                <a:latin typeface="Arial"/>
              </a:rPr>
              <a:t>Subgraph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-137160" y="6903720"/>
            <a:ext cx="1490472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3. Smart Contract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Each contract has one clear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7190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38D8D8"/>
                </a:solidFill>
                <a:latin typeface="Arial"/>
              </a:rPr>
              <a:t>GovernanceToken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391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ERC20Votes + ERC20Permit token used for voting power and delegation.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16002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5B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59551" y="17190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5B8AFF"/>
                </a:solidFill>
                <a:latin typeface="Arial"/>
              </a:rPr>
              <a:t>PolicyNFT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1" y="20391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ERC-721 representation of active insurance policies and ownership.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6002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77272" y="17190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9158FF"/>
                </a:solidFill>
                <a:latin typeface="Arial"/>
              </a:rPr>
              <a:t>InsuranceVault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7272" y="20391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ERC-4626 vault for deposits, withdrawals, free liquidity, and claim payouts.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004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3192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38D8D8"/>
                </a:solidFill>
                <a:latin typeface="Arial"/>
              </a:rPr>
              <a:t>RiskRegistry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6393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Stores accepted risk types, premium rates, limits, and active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59" y="32004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5B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59551" y="33192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5B8AFF"/>
                </a:solidFill>
                <a:latin typeface="Arial"/>
              </a:rPr>
              <a:t>InsurancePool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1" y="36393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Sells policies, tracks coverage, and releases or consumes reserved liquidity.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32004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77272" y="33192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9158FF"/>
                </a:solidFill>
                <a:latin typeface="Arial"/>
              </a:rPr>
              <a:t>ClaimManager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36393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Checks oracle conditions and executes eligible claim payouts.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006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9194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38D8D8"/>
                </a:solidFill>
                <a:latin typeface="Arial"/>
              </a:rPr>
              <a:t>InsuranceAMM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2395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Constant-product AMM with swap, liquidity, fee, and slippage logic.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59" y="48006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5B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59551" y="49194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5B8AFF"/>
                </a:solidFill>
                <a:latin typeface="Arial"/>
              </a:rPr>
              <a:t>Governor + Timelock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1" y="52395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DAO flow with proposal, vote, queue, delay, and execution.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4800600"/>
            <a:ext cx="4160520" cy="1261872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77272" y="4919472"/>
            <a:ext cx="3749039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80" b="1">
                <a:solidFill>
                  <a:srgbClr val="9158FF"/>
                </a:solidFill>
                <a:latin typeface="Arial"/>
              </a:rPr>
              <a:t>Factory + UUPS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7272" y="5239512"/>
            <a:ext cx="3749039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60" b="0">
                <a:solidFill>
                  <a:srgbClr val="EDF4FF"/>
                </a:solidFill>
                <a:latin typeface="Arial"/>
              </a:rPr>
              <a:t>CREATE/CREATE2 deployment and V1 to V2 upgrade path.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-121920" y="6903720"/>
            <a:ext cx="1487424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4. Critical User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Deposit, buy policy, execute claim, and govern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6309360" cy="205740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46504"/>
            <a:ext cx="5303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750" b="1">
                <a:solidFill>
                  <a:srgbClr val="38D8D8"/>
                </a:solidFill>
                <a:latin typeface="Arial"/>
              </a:rPr>
              <a:t>A. Underwriter deposits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5806440" cy="1188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User deposits collateral into InsuranceVault.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Vault mints shares and exposes available free liquidity.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Reserved coverage reduces max withdraw/redeem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600200"/>
            <a:ext cx="6309360" cy="205740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F5B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746504"/>
            <a:ext cx="5303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750" b="1">
                <a:solidFill>
                  <a:srgbClr val="F5BC4C"/>
                </a:solidFill>
                <a:latin typeface="Arial"/>
              </a:rPr>
              <a:t>B. Buyer purchases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30552"/>
            <a:ext cx="5806440" cy="1188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Buyer selects risk type and coverage amount.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InsurancePool calculates premium and mints PolicyNFT.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Active coverage increases and vault liquidity becomes reserved.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23360"/>
            <a:ext cx="6309360" cy="205740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7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169664"/>
            <a:ext cx="5303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750" b="1">
                <a:solidFill>
                  <a:srgbClr val="37CC92"/>
                </a:solidFill>
                <a:latin typeface="Arial"/>
              </a:rPr>
              <a:t>C. Claim is executed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53712"/>
            <a:ext cx="5806440" cy="1188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ClaimManager reads oracle price through adapter.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If trigger condition is met, payout goes to policy owner.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Double claim and inactive policy paths are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023360"/>
            <a:ext cx="6309360" cy="205740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169664"/>
            <a:ext cx="5303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750" b="1">
                <a:solidFill>
                  <a:srgbClr val="9158FF"/>
                </a:solidFill>
                <a:latin typeface="Arial"/>
              </a:rPr>
              <a:t>D. DAO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553712"/>
            <a:ext cx="5806440" cy="1188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Token holders delegate votes and create proposals.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Proposal passes, queues in Timelock, then executes after delay.</a:t>
            </a:r>
          </a:p>
          <a:p>
            <a:pPr>
              <a:spcAft>
                <a:spcPts val="500"/>
              </a:spcAft>
              <a:defRPr sz="1350">
                <a:solidFill>
                  <a:srgbClr val="EDF4FF"/>
                </a:solidFill>
                <a:latin typeface="Arial"/>
              </a:defRPr>
            </a:pPr>
            <a:r>
              <a:t>• Timelock protects treasury and protocol parameters.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-152400" y="6903720"/>
            <a:ext cx="1493520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5. Oracle, Governance,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The project includes access control, stale-price protection, and DAO safeguards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297680" cy="484632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200400" cy="4001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000" b="1" dirty="0">
                <a:solidFill>
                  <a:srgbClr val="38D8D8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8D8D8"/>
                </a:solidFill>
                <a:latin typeface="Arial"/>
              </a:rPr>
              <a:t>Oracle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794760" cy="1920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ChainlinkOracleAdapter rejects zero feed addresses.</a:t>
            </a:r>
          </a:p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Negative, zero, stale, or incomplete answers revert.</a:t>
            </a:r>
          </a:p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Claim logic uses the oracle to decide whether a policy trigger is 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600200"/>
            <a:ext cx="4297680" cy="484632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1828800"/>
            <a:ext cx="3291840" cy="4001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000" b="1" dirty="0">
                <a:solidFill>
                  <a:srgbClr val="9158FF"/>
                </a:solidFill>
                <a:latin typeface="Arial"/>
              </a:rPr>
              <a:t>  </a:t>
            </a:r>
            <a:r>
              <a:rPr sz="2000" b="1" dirty="0">
                <a:solidFill>
                  <a:srgbClr val="9158FF"/>
                </a:solidFill>
                <a:latin typeface="Arial"/>
              </a:rPr>
              <a:t>Governance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331720"/>
            <a:ext cx="3794760" cy="1920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Governor uses voting delay, voting period, quorum, and proposal threshold.</a:t>
            </a:r>
          </a:p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Timelock enforces delay before execution.</a:t>
            </a:r>
          </a:p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Privileged actions are restricted with roles or ownership.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600200"/>
            <a:ext cx="3931920" cy="484632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7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95560" y="1828800"/>
            <a:ext cx="3200400" cy="4001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000" b="1" dirty="0">
                <a:solidFill>
                  <a:srgbClr val="37CC92"/>
                </a:solidFill>
                <a:latin typeface="Arial"/>
              </a:rPr>
              <a:t>  </a:t>
            </a:r>
            <a:r>
              <a:rPr sz="2000" b="1" dirty="0">
                <a:solidFill>
                  <a:srgbClr val="37CC92"/>
                </a:solidFill>
                <a:latin typeface="Arial"/>
              </a:rPr>
              <a:t>Security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2331720"/>
            <a:ext cx="3337560" cy="1920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ReentrancyGuard and CEI pattern are used where relevant.</a:t>
            </a:r>
          </a:p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SafeERC20 is used for ERC-20 transfers in production logic.</a:t>
            </a:r>
          </a:p>
          <a:p>
            <a:pPr>
              <a:spcAft>
                <a:spcPts val="500"/>
              </a:spcAft>
              <a:defRPr sz="1600">
                <a:solidFill>
                  <a:srgbClr val="EDF4FF"/>
                </a:solidFill>
                <a:latin typeface="Arial"/>
              </a:defRPr>
            </a:pPr>
            <a:r>
              <a:t>• Known limitations are documented instead of overclaiming.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-182880" y="6903720"/>
            <a:ext cx="1499616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6. Testing and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The final suite passes and meets the quantitative testing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126480" cy="512064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5029200" cy="4154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100" b="1" dirty="0">
                <a:solidFill>
                  <a:srgbClr val="38D8D8"/>
                </a:solidFill>
                <a:latin typeface="Arial"/>
              </a:rPr>
              <a:t>  </a:t>
            </a:r>
            <a:r>
              <a:rPr sz="2100" b="1" dirty="0">
                <a:solidFill>
                  <a:srgbClr val="38D8D8"/>
                </a:solidFill>
                <a:latin typeface="Arial"/>
              </a:rPr>
              <a:t>Final validation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577840" cy="28346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forge build: passed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forge test: 134 passed, 0 failed, 0 skipped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forge coverage line: 93.60% (760/812)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Statements: 92.67%, branches: 66.94%, functions: 88.44%</a:t>
            </a:r>
          </a:p>
          <a:p>
            <a:pPr>
              <a:spcAft>
                <a:spcPts val="500"/>
              </a:spcAft>
              <a:defRPr sz="1800">
                <a:solidFill>
                  <a:srgbClr val="EDF4FF"/>
                </a:solidFill>
                <a:latin typeface="Arial"/>
              </a:defRPr>
            </a:pPr>
            <a:r>
              <a:t>• Frontend production build also passed.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00200"/>
            <a:ext cx="6583680" cy="5120640"/>
          </a:xfrm>
          <a:prstGeom prst="roundRect">
            <a:avLst/>
          </a:prstGeom>
          <a:solidFill>
            <a:srgbClr val="0F1D33"/>
          </a:solidFill>
          <a:ln w="12700">
            <a:solidFill>
              <a:srgbClr val="F5B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847088"/>
            <a:ext cx="5029200" cy="4154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100" b="1" dirty="0">
                <a:solidFill>
                  <a:srgbClr val="F5BC4C"/>
                </a:solidFill>
                <a:latin typeface="Arial"/>
              </a:rPr>
              <a:t>  </a:t>
            </a:r>
            <a:r>
              <a:rPr sz="2100" b="1" dirty="0">
                <a:solidFill>
                  <a:srgbClr val="F5BC4C"/>
                </a:solidFill>
                <a:latin typeface="Arial"/>
              </a:rPr>
              <a:t>Test types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5989320" cy="28346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EDF4FF"/>
                </a:solidFill>
                <a:latin typeface="Arial"/>
              </a:defRPr>
            </a:pPr>
            <a:r>
              <a:t>• Unit tests cover public/external functions and important revert paths.</a:t>
            </a:r>
          </a:p>
          <a:p>
            <a:pPr>
              <a:spcAft>
                <a:spcPts val="500"/>
              </a:spcAft>
              <a:defRPr sz="1700">
                <a:solidFill>
                  <a:srgbClr val="EDF4FF"/>
                </a:solidFill>
                <a:latin typeface="Arial"/>
              </a:defRPr>
            </a:pPr>
            <a:r>
              <a:t>• Fuzz tests target AMM swaps, vault deposit/withdraw, and governance voting power.</a:t>
            </a:r>
          </a:p>
          <a:p>
            <a:pPr>
              <a:spcAft>
                <a:spcPts val="500"/>
              </a:spcAft>
              <a:defRPr sz="1700">
                <a:solidFill>
                  <a:srgbClr val="EDF4FF"/>
                </a:solidFill>
                <a:latin typeface="Arial"/>
              </a:defRPr>
            </a:pPr>
            <a:r>
              <a:t>• Invariant tests check non-decreasing k, vault accounting, and risk exposure.</a:t>
            </a:r>
          </a:p>
          <a:p>
            <a:pPr>
              <a:spcAft>
                <a:spcPts val="500"/>
              </a:spcAft>
              <a:defRPr sz="1700">
                <a:solidFill>
                  <a:srgbClr val="EDF4FF"/>
                </a:solidFill>
                <a:latin typeface="Arial"/>
              </a:defRPr>
            </a:pPr>
            <a:r>
              <a:t>• Fork tests are present; full live fork validation requires RPC URLs.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52400" y="6903720"/>
            <a:ext cx="1493520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7. Frontend and Subgraph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The UI and indexed data layer are configured for the recorded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6492240" cy="512064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4154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100" b="1" dirty="0">
                <a:solidFill>
                  <a:srgbClr val="38D8D8"/>
                </a:solidFill>
                <a:latin typeface="Arial"/>
              </a:rPr>
              <a:t>  </a:t>
            </a:r>
            <a:r>
              <a:rPr sz="2100" b="1" dirty="0">
                <a:solidFill>
                  <a:srgbClr val="38D8D8"/>
                </a:solidFill>
                <a:latin typeface="Arial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5943600" cy="28346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39">
                <a:solidFill>
                  <a:srgbClr val="EDF4FF"/>
                </a:solidFill>
                <a:latin typeface="Arial"/>
              </a:defRPr>
            </a:pPr>
            <a:r>
              <a:t>• React frontend includes wallet connection, dashboard reads, and protocol action forms.</a:t>
            </a:r>
          </a:p>
          <a:p>
            <a:pPr>
              <a:spcAft>
                <a:spcPts val="500"/>
              </a:spcAft>
              <a:defRPr sz="1639">
                <a:solidFill>
                  <a:srgbClr val="EDF4FF"/>
                </a:solidFill>
                <a:latin typeface="Arial"/>
              </a:defRPr>
            </a:pPr>
            <a:r>
              <a:t>• State-changing forms cover deposit, buy policy, claim, swap, and vote flows.</a:t>
            </a:r>
          </a:p>
          <a:p>
            <a:pPr>
              <a:spcAft>
                <a:spcPts val="500"/>
              </a:spcAft>
              <a:defRPr sz="1639">
                <a:solidFill>
                  <a:srgbClr val="EDF4FF"/>
                </a:solidFill>
                <a:latin typeface="Arial"/>
              </a:defRPr>
            </a:pPr>
            <a:r>
              <a:t>• Readable error messages are prepared for wrong network, rejected transaction, and insufficient balance cases.</a:t>
            </a:r>
          </a:p>
          <a:p>
            <a:pPr>
              <a:spcAft>
                <a:spcPts val="500"/>
              </a:spcAft>
              <a:defRPr sz="1639">
                <a:solidFill>
                  <a:srgbClr val="EDF4FF"/>
                </a:solidFill>
                <a:latin typeface="Arial"/>
              </a:defRPr>
            </a:pPr>
            <a:r>
              <a:t>• The frontend build passes, and contract configuration uses recorded Base Sepolia addresses.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5440680"/>
            <a:ext cx="6172200" cy="128016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7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5577840"/>
            <a:ext cx="19202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900" b="1">
                <a:solidFill>
                  <a:srgbClr val="37CC92"/>
                </a:solidFill>
                <a:latin typeface="Arial"/>
              </a:rPr>
              <a:t>Subgraph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5925312"/>
            <a:ext cx="57150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20" b="0">
                <a:solidFill>
                  <a:srgbClr val="EDF4FF"/>
                </a:solidFill>
                <a:latin typeface="Arial"/>
              </a:rPr>
              <a:t>Subgraph manifest is wired to the same Base Sepolia addresses. It includes 8 entities and documented GraphQL queries. A hosted live endpoint is not claimed unless deployed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903720"/>
            <a:ext cx="13350240" cy="768096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8/10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EA137EE-EC2B-463D-A9A4-103D763A9C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72" t="-1" r="7072" b="48297"/>
          <a:stretch/>
        </p:blipFill>
        <p:spPr>
          <a:xfrm>
            <a:off x="7612380" y="984504"/>
            <a:ext cx="6309360" cy="4255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3350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>
                <a:solidFill>
                  <a:srgbClr val="EDF4FF"/>
                </a:solidFill>
                <a:latin typeface="Arial"/>
              </a:rPr>
              <a:t>8. Deployment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The repository can be cloned, built, tested, and connected to Base Sepolia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446520" cy="521208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114800" cy="4154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100" b="1" dirty="0">
                <a:solidFill>
                  <a:srgbClr val="38D8D8"/>
                </a:solidFill>
                <a:latin typeface="Arial"/>
              </a:rPr>
              <a:t>  </a:t>
            </a:r>
            <a:r>
              <a:rPr sz="2100" b="1" dirty="0">
                <a:solidFill>
                  <a:srgbClr val="38D8D8"/>
                </a:solidFill>
                <a:latin typeface="Arial"/>
              </a:rPr>
              <a:t>Deployment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943600" cy="26974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Base Sepolia deployment addresses are recorded in deployments/base-sepolia.json.</a:t>
            </a:r>
          </a:p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Frontend contract configuration and subgraph manifest use the same addresses.</a:t>
            </a:r>
          </a:p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VerifyDeployment passed locally against Base Sepolia after deployment artifact review.</a:t>
            </a:r>
          </a:p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No fake explorer verification links or fake live subgraph endpoint are claimed.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6355080" cy="521208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F5B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840480" cy="4154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100" b="1" dirty="0">
                <a:solidFill>
                  <a:srgbClr val="F5BC4C"/>
                </a:solidFill>
                <a:latin typeface="Arial"/>
              </a:rPr>
              <a:t>  </a:t>
            </a:r>
            <a:r>
              <a:rPr sz="2100" b="1" dirty="0">
                <a:solidFill>
                  <a:srgbClr val="F5BC4C"/>
                </a:solidFill>
                <a:latin typeface="Arial"/>
              </a:rPr>
              <a:t>Reproducible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31720"/>
            <a:ext cx="5715000" cy="26974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Fresh clone setup is documented with git submodule update --init --recursive.</a:t>
            </a:r>
          </a:p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Backend commands: forge build, forge test, forge coverage.</a:t>
            </a:r>
          </a:p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Frontend commands: npm install and npm run build.</a:t>
            </a:r>
          </a:p>
          <a:p>
            <a:pPr>
              <a:spcAft>
                <a:spcPts val="500"/>
              </a:spcAft>
              <a:defRPr sz="1670">
                <a:solidFill>
                  <a:srgbClr val="EDF4FF"/>
                </a:solidFill>
                <a:latin typeface="Arial"/>
              </a:defRPr>
            </a:pPr>
            <a:r>
              <a:t>• Main branch is used only for the final release after develop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52400" y="6903720"/>
            <a:ext cx="1493520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7022592"/>
            <a:ext cx="12893040" cy="32778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endParaRPr sz="1530" b="0" dirty="0">
              <a:solidFill>
                <a:srgbClr val="EDF4FF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etailed_isometric_3d_digital_illustration_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548640"/>
            <a:ext cx="58521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3350240" cy="58477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3200" b="1" dirty="0">
                <a:solidFill>
                  <a:srgbClr val="EDF4FF"/>
                </a:solidFill>
                <a:latin typeface="Arial"/>
              </a:rPr>
              <a:t>9. Final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1704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50" b="0">
                <a:solidFill>
                  <a:srgbClr val="A5B2C8"/>
                </a:solidFill>
                <a:latin typeface="Arial"/>
              </a:rPr>
              <a:t>What is complete, what is honest, and who explains each 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2926080" cy="36576"/>
          </a:xfrm>
          <a:prstGeom prst="rect">
            <a:avLst/>
          </a:prstGeom>
          <a:solidFill>
            <a:srgbClr val="3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36192"/>
            <a:ext cx="7269480" cy="5074920"/>
          </a:xfrm>
          <a:prstGeom prst="roundRect">
            <a:avLst/>
          </a:prstGeom>
          <a:solidFill>
            <a:srgbClr val="0E1B2F"/>
          </a:solidFill>
          <a:ln w="12700">
            <a:solidFill>
              <a:srgbClr val="3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206240" cy="4154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ru-RU" sz="2100" b="1" dirty="0">
                <a:solidFill>
                  <a:srgbClr val="38D8D8"/>
                </a:solidFill>
                <a:latin typeface="Arial"/>
              </a:rPr>
              <a:t>  </a:t>
            </a:r>
            <a:r>
              <a:rPr sz="2100" b="1" dirty="0">
                <a:solidFill>
                  <a:srgbClr val="38D8D8"/>
                </a:solidFill>
                <a:latin typeface="Arial"/>
              </a:rPr>
              <a:t>Final project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6812280" cy="24688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EDF4FF"/>
                </a:solidFill>
                <a:latin typeface="Arial"/>
              </a:defRPr>
            </a:pPr>
            <a:r>
              <a:t>• Core Solidity protocol is implemented: vault, pool, claims, oracle, AMM, governance, upgrade, factory, and benchmark.</a:t>
            </a:r>
          </a:p>
          <a:p>
            <a:pPr>
              <a:spcAft>
                <a:spcPts val="500"/>
              </a:spcAft>
              <a:defRPr sz="1650">
                <a:solidFill>
                  <a:srgbClr val="EDF4FF"/>
                </a:solidFill>
                <a:latin typeface="Arial"/>
              </a:defRPr>
            </a:pPr>
            <a:r>
              <a:t>• Tests pass with 134/134 and line coverage above 90%.</a:t>
            </a:r>
          </a:p>
          <a:p>
            <a:pPr>
              <a:spcAft>
                <a:spcPts val="500"/>
              </a:spcAft>
              <a:defRPr sz="1650">
                <a:solidFill>
                  <a:srgbClr val="EDF4FF"/>
                </a:solidFill>
                <a:latin typeface="Arial"/>
              </a:defRPr>
            </a:pPr>
            <a:r>
              <a:t>• Frontend, subgraph, deployment scripts, reports, architecture, and README are included.</a:t>
            </a:r>
          </a:p>
          <a:p>
            <a:pPr>
              <a:spcAft>
                <a:spcPts val="500"/>
              </a:spcAft>
              <a:defRPr sz="1650">
                <a:solidFill>
                  <a:srgbClr val="EDF4FF"/>
                </a:solidFill>
                <a:latin typeface="Arial"/>
              </a:defRPr>
            </a:pPr>
            <a:r>
              <a:t>• Base Sepolia deployment artifacts are recorded and synced across config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-106680" y="6903720"/>
            <a:ext cx="14843760" cy="640080"/>
          </a:xfrm>
          <a:prstGeom prst="roundRect">
            <a:avLst/>
          </a:prstGeom>
          <a:solidFill>
            <a:srgbClr val="0C2136"/>
          </a:solidFill>
          <a:ln w="12700">
            <a:solidFill>
              <a:srgbClr val="91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7818120"/>
            <a:ext cx="7772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3829B"/>
                </a:solidFill>
                <a:latin typeface="Arial"/>
              </a:rPr>
              <a:t>Blockchain Technologies 2 | Option E | Slide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1268</Words>
  <Application>Microsoft Office PowerPoint</Application>
  <PresentationFormat>Произвольный</PresentationFormat>
  <Paragraphs>133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Dulat Zhambyl</cp:lastModifiedBy>
  <cp:revision>13</cp:revision>
  <dcterms:created xsi:type="dcterms:W3CDTF">2013-01-27T09:14:16Z</dcterms:created>
  <dcterms:modified xsi:type="dcterms:W3CDTF">2026-05-18T05:30:31Z</dcterms:modified>
  <cp:category/>
</cp:coreProperties>
</file>